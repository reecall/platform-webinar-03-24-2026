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exen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exe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d1bed65f25_2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d1bed65f25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ed65f25_2_4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1bed65f25_2_4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d1bed65f25_2_4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1bed65f25_2_5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1bed65f25_2_5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d1bed65f25_2_5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bed65f25_2_6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1bed65f25_2_6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d1bed65f25_2_6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" name="Google Shape;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 3">
  <p:cSld name="TITLE_1_4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11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2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451" y="-1797080"/>
            <a:ext cx="4996950" cy="48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871074" y="3247170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/>
        </p:nvSpPr>
        <p:spPr>
          <a:xfrm>
            <a:off x="650450" y="1228800"/>
            <a:ext cx="4491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Webinaire</a:t>
            </a:r>
            <a:endParaRPr sz="3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Beyond Voice Bots </a:t>
            </a:r>
            <a:br>
              <a:rPr b="1"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Building AI Agent Systems with Reecall </a:t>
            </a:r>
            <a:br>
              <a:rPr b="1"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b="1"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Session Technique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Date</a:t>
            </a:r>
            <a:r>
              <a:rPr lang="fr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: Mardi 24 mars 2026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Heure</a:t>
            </a:r>
            <a:r>
              <a:rPr lang="fr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: 11h00-12h00 (CET)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preencoded.png" id="26" name="Google Shape;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6" title="logo_recall_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300" y="362771"/>
            <a:ext cx="2393449" cy="4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lang="fr" sz="3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Webinaire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731520" y="1272081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1371600" y="1244649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1965960" y="131513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Assistant &amp; Channel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1965960" y="157117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Création et connexion à un Assistant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731520" y="1783613"/>
            <a:ext cx="7680900" cy="4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731520" y="1839009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081" y="1935570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1371600" y="1811577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1965960" y="188206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Knowledge Base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1965960" y="213809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Ajout de FAQ et Guidelines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731520" y="2350541"/>
            <a:ext cx="7680900" cy="4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731520" y="2405937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" name="Google Shape;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081" y="2502498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1371600" y="2378505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965960" y="244899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Tools &amp; MCP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1965960" y="270502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Capacités d’actions réelles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731520" y="2917469"/>
            <a:ext cx="7680900" cy="4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731520" y="4155885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081" y="4252446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1371600" y="4128453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fr" sz="1600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965960" y="4149767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Blueprints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1965960" y="4405799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fr" sz="1000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Industrialisation et scalabilité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731520" y="3484397"/>
            <a:ext cx="7680900" cy="4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731520" y="3539793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" name="Google Shape;5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081" y="3636354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1371600" y="3512361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965960" y="358285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Monitoring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965960" y="383888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Données de conversation, </a:t>
            </a:r>
            <a:r>
              <a:rPr lang="fr" sz="1000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métriques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731520" y="4051325"/>
            <a:ext cx="7680900" cy="4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31520" y="2972859"/>
            <a:ext cx="438900" cy="438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081" y="3069420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1371600" y="2945427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fr" sz="1600">
                <a:solidFill>
                  <a:srgbClr val="7C3AED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965960" y="30159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Workflow</a:t>
            </a:r>
            <a:r>
              <a:rPr b="1" lang="fr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 &amp; Hooks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965960" y="327194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Automatisation, Traitement de donnée, </a:t>
            </a:r>
            <a:r>
              <a:rPr lang="fr" sz="1000">
                <a:solidFill>
                  <a:srgbClr val="9CA3AF"/>
                </a:solidFill>
                <a:latin typeface="Lexend"/>
                <a:ea typeface="Lexend"/>
                <a:cs typeface="Lexend"/>
                <a:sym typeface="Lexend"/>
              </a:rPr>
              <a:t>Séquences d’actions</a:t>
            </a:r>
            <a:endParaRPr b="0" i="0" sz="1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5451" y="-1797080"/>
            <a:ext cx="4996950" cy="48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2959" y="1362388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 title="Logo seul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Cas d’usage: Assistant médical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731520" y="9601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Démo live d'un Assistant vocal complet pour un cabinet médical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3291840" y="1587500"/>
            <a:ext cx="2560200" cy="25602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3566160" y="1770380"/>
            <a:ext cx="548700" cy="548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32" y="18892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3566160" y="245618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Prise de RDV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566160" y="2821940"/>
            <a:ext cx="201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Via serveur MCP</a:t>
            </a:r>
            <a:r>
              <a:rPr lang="fr" sz="1100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connecté à </a:t>
            </a:r>
            <a:r>
              <a:rPr lang="fr" sz="1100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un </a:t>
            </a: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agenda </a:t>
            </a:r>
            <a:r>
              <a:rPr lang="fr" sz="1100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médical</a:t>
            </a:r>
            <a:endParaRPr b="0" i="0" sz="11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080760" y="1587500"/>
            <a:ext cx="2560200" cy="25602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355080" y="1770380"/>
            <a:ext cx="548700" cy="548700"/>
          </a:xfrm>
          <a:prstGeom prst="ellipse">
            <a:avLst/>
          </a:prstGeom>
          <a:solidFill>
            <a:srgbClr val="FF8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" name="Google Shape;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3952" y="18892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6355080" y="245618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Transfert humain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871074" y="3247170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6355080" y="2821940"/>
            <a:ext cx="201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Sur demande explicite du patient, transfert SIP vers le secrétariat</a:t>
            </a:r>
            <a:endParaRPr b="0" i="0" sz="11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502920" y="1587500"/>
            <a:ext cx="2560200" cy="25602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777240" y="1770380"/>
            <a:ext cx="548700" cy="548700"/>
          </a:xfrm>
          <a:prstGeom prst="ellipse">
            <a:avLst/>
          </a:prstGeom>
          <a:solidFill>
            <a:srgbClr val="5BCA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3" name="Google Shape;9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6112" y="18892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777250" y="2821950"/>
            <a:ext cx="20118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Connaissances du context</a:t>
            </a:r>
            <a:r>
              <a:rPr lang="fr" sz="1100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b="0" i="0" lang="fr" sz="1100" u="none" cap="none" strike="noStrike">
                <a:solidFill>
                  <a:srgbClr val="4B5563"/>
                </a:solidFill>
                <a:latin typeface="Lexend"/>
                <a:ea typeface="Lexend"/>
                <a:cs typeface="Lexend"/>
                <a:sym typeface="Lexend"/>
              </a:rPr>
              <a:t>métier (horaires, parking, motifs consultation) grâce à la Knowledge Base</a:t>
            </a:r>
            <a:endParaRPr b="0" i="0" sz="11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777240" y="245618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FAQ vocale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" name="Google Shape;96;p8" title="Logo seu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Assistant 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741532" y="980134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Création d’un Assistant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preencoded.png" id="105" name="Google Shape;1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632" y="1901952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751" y="-1406243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8" name="Google Shape;10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205" y="519616"/>
            <a:ext cx="329505" cy="329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/>
          <p:nvPr/>
        </p:nvSpPr>
        <p:spPr>
          <a:xfrm>
            <a:off x="741532" y="2105489"/>
            <a:ext cx="79944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Briques technologiques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Trois architectures principales peuvent être mises en place :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Pipeline</a:t>
            </a:r>
            <a:b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Enchaînement des composants : </a:t>
            </a:r>
            <a:r>
              <a:rPr i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STT → LLM → TTS </a:t>
            </a:r>
            <a:br>
              <a:rPr i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</a:br>
            <a:endParaRPr i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Temps réel (Realtime)</a:t>
            </a:r>
            <a:b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Interaction directe en continu : </a:t>
            </a:r>
            <a:r>
              <a:rPr i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STS </a:t>
            </a:r>
            <a:br>
              <a:rPr i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</a:br>
            <a:endParaRPr i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Hybride</a:t>
            </a:r>
            <a:b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Combinaison des deux approches : </a:t>
            </a:r>
            <a:r>
              <a:rPr i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STS + TTS</a:t>
            </a:r>
            <a:endParaRPr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41532" y="1451064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Un Assistant est un agent conversationnel basé sur l’IA, conçu pour interagir de manière naturelle avec les utilisateurs.</a:t>
            </a:r>
            <a:endParaRPr b="1" sz="9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9" title="Logo seu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Assistant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preencoded.png" id="119" name="Google Shape;1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632" y="1901952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751" y="-1406243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205" y="519616"/>
            <a:ext cx="329505" cy="329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 title="Logo seu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 txBox="1"/>
          <p:nvPr/>
        </p:nvSpPr>
        <p:spPr>
          <a:xfrm>
            <a:off x="655325" y="2045448"/>
            <a:ext cx="84126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Configuration et paramètres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Plusieurs éléments permettent d’ajuster le comportement de l’Assistant :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Instructions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définissent le rôle et les règles de l’Assistant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Message d’accueil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première interaction avec l’utilisateur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Température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contrôle le niveau de créativité des réponses</a:t>
            </a:r>
            <a:endParaRPr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41532" y="980134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Création d’un Assistant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741532" y="1451064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Un Assistant est un agent conversationnel basé sur l’IA, conçu pour interagir de manière naturelle avec les utilisateurs.</a:t>
            </a:r>
            <a:endParaRPr b="1" sz="9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Channel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Connexion à un Assistant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6" name="Google Shape;1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205" y="519616"/>
            <a:ext cx="329505" cy="3295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731525" y="2732100"/>
            <a:ext cx="384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Support de la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VoIP 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et de la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téléphonie traditionnelle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(PSTN)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Reecall fournit un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endpoint SIP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 client configure son PBX ou son opérateur télécom pour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établir la connexion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731525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SIP Channel :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866793" y="2732100"/>
            <a:ext cx="3649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Intégration dans toute application via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les SDKs de LiveKit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Authentification sécurisée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par token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Communication en peer-to-peer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pour une latence minimale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866793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WebRTC Channel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251" y="3292757"/>
            <a:ext cx="4996950" cy="48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 title="Logo 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Un Channel permet de connecter un Assistant à différents environnements de communication (web, téléphonie…).</a:t>
            </a:r>
            <a:endParaRPr b="1" sz="9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Knowledge Base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Ajout de FAQ</a:t>
            </a: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Guidelines</a:t>
            </a: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et données métier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preencoded.png" id="152" name="Google Shape;1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632" y="19019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526" y="530399"/>
            <a:ext cx="310900" cy="3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7501" y="-1735693"/>
            <a:ext cx="4996950" cy="48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2" title="Logo seu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La Knowledge Base permet d’enrichir l’Assistant avec des informations clés.</a:t>
            </a:r>
            <a:endParaRPr b="1" sz="12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31525" y="2503500"/>
            <a:ext cx="7183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Statique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contenu maîtrisé et validé en amont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Structuré et formaté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par Reecall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Injecté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dans le contexte de l’Assistant pour améliorer la pertinence des réponses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Mutualisable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partageable entre plusieurs Assistants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731525" y="20217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Caractéristiques des données :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Tools &amp; MCP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Capacités d’action réelles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95874" y="3276757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523" y="530404"/>
            <a:ext cx="310900" cy="3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 title="Logo 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Les Tools permettent à l’Assistant de dépasser la simple conversation et d’exécuter des actions concrètes.</a:t>
            </a:r>
            <a:endParaRPr b="1" sz="12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731525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System tools :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866793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Configuration serveur MCP :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731525" y="2732100"/>
            <a:ext cx="384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Conçus et fournis par Reecall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Permettent des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tions génériques liées à la conversation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Incluent des options de configuration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pour adapter le comportement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866793" y="2732100"/>
            <a:ext cx="3649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Accès distant via HTTP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(streamable)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Serveur hébergé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chez le client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Accès à des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fonctionnalités propriétaires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et systèmes internes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Workflows &amp; Hooks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Automatisation, Traitement de donnée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4826" y="2692332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7" name="Google Shape;1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300" y="483175"/>
            <a:ext cx="405350" cy="4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 title="Logo 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Ces mécanismes permettent d’orchestrer des actions et de structurer les traitements autour de l’Assistant.</a:t>
            </a:r>
            <a:endParaRPr b="1" sz="12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731525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Workflows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4866793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Hooks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731525" y="2732100"/>
            <a:ext cx="384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Suite d’actions exécutées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dans un ordre déterminé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Actions partageant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un contexte commun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Capables de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transformer les données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866793" y="2732100"/>
            <a:ext cx="3649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Écoutent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les événements de la plateforme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Déclenchent des workflows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automatiquement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Assurent la transmission des données 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vers les workflows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Monitoring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Données de conversation, Dashboard, M</a:t>
            </a: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étriques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5101" y="-2394093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4" name="Google Shape;2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937" y="504813"/>
            <a:ext cx="362075" cy="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title="Logo 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 monitoring permet d’analyser les interactions, de suivre les performances et d’assurer la qualité du service.</a:t>
            </a:r>
            <a:endParaRPr b="1" sz="12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731525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Exchanges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4866793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Métriques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731525" y="2732100"/>
            <a:ext cx="384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Historique des messages échangés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Liste des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événements techniques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Accès aux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métadonnées de conversation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4866793" y="2732100"/>
            <a:ext cx="3649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Suivi des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événements du modèle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Analyse de la consommation de tokens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Traçabilité complète 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des interactions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6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1414203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Arial"/>
              <a:buNone/>
            </a:pPr>
            <a:r>
              <a:rPr b="1" i="0" lang="fr" sz="3200" u="none" cap="none" strike="noStrike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Blueprints</a:t>
            </a:r>
            <a:endParaRPr b="0" i="0" sz="3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731520" y="96012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fr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Industrialisation et scalabilité 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0451" y="2271032"/>
            <a:ext cx="4996950" cy="4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/>
          <p:nvPr/>
        </p:nvSpPr>
        <p:spPr>
          <a:xfrm>
            <a:off x="731526" y="403394"/>
            <a:ext cx="564900" cy="564900"/>
          </a:xfrm>
          <a:prstGeom prst="ellipse">
            <a:avLst/>
          </a:prstGeom>
          <a:solidFill>
            <a:srgbClr val="F3F0FF"/>
          </a:solidFill>
          <a:ln>
            <a:noFill/>
          </a:ln>
        </p:spPr>
        <p:txBody>
          <a:bodyPr anchorCtr="0" anchor="ctr" bIns="117650" lIns="117650" spcFirstLastPara="1" rIns="117650" wrap="square" tIns="11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1" name="Google Shape;2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035" y="505916"/>
            <a:ext cx="359875" cy="3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6" title="Logo 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899" y="222625"/>
            <a:ext cx="283500" cy="19568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/>
          <p:nvPr/>
        </p:nvSpPr>
        <p:spPr>
          <a:xfrm>
            <a:off x="731525" y="1431051"/>
            <a:ext cx="683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Les Blueprints permettent de standardiser et de répliquer des configurations d’Assistants à grande échelle.</a:t>
            </a:r>
            <a:endParaRPr b="1" sz="12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731525" y="2250321"/>
            <a:ext cx="41148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Concept</a:t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731525" y="2732100"/>
            <a:ext cx="7314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Modèles réutilisables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d’Assistants prêts à être déployés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Encapsulent la configuration complète</a:t>
            </a: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 : Assistant, Knowledge Base, Tools, Workflows…</a:t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Lexend"/>
              <a:buChar char="●"/>
            </a:pPr>
            <a:r>
              <a:rPr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Permettent de </a:t>
            </a:r>
            <a:r>
              <a:rPr b="1" lang="fr" sz="1100">
                <a:solidFill>
                  <a:srgbClr val="1E1B4B"/>
                </a:solidFill>
                <a:latin typeface="Lexend"/>
                <a:ea typeface="Lexend"/>
                <a:cs typeface="Lexend"/>
                <a:sym typeface="Lexend"/>
              </a:rPr>
              <a:t>dupliquer rapidement des cas d’usage</a:t>
            </a:r>
            <a:endParaRPr b="1"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1B4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